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61" r:id="rId9"/>
    <p:sldId id="262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0du3IjyofP+0xISlvU5dLCzth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6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5aba9bfc6_12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35aba9bfc6_1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5aba9bfc6_12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35aba9bfc6_1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5aba9bfc6_12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35aba9bfc6_1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5aba9bfc6_12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35aba9bfc6_1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5aba9bfc6_12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35aba9bfc6_1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/>
          <p:nvPr/>
        </p:nvSpPr>
        <p:spPr>
          <a:xfrm>
            <a:off x="0" y="1"/>
            <a:ext cx="12192000" cy="5020236"/>
          </a:xfrm>
          <a:prstGeom prst="rect">
            <a:avLst/>
          </a:prstGeom>
          <a:solidFill>
            <a:srgbClr val="5356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10" descr="A picture containing text, sky, building, outdoor&#10;&#10;Description automatically generated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12192000" cy="502023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" name="Google Shape;2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13530" y="381001"/>
            <a:ext cx="1972071" cy="822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0" descr="2022 Lexus NX Buyer&amp;#39;s Guide: Reviews, Specs, Comparison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125" y="3095384"/>
            <a:ext cx="3941632" cy="2217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6036" y="3281448"/>
            <a:ext cx="3650607" cy="1614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0" descr="A white car with a black background&#10;&#10;Description automatically generated with medium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70201" y="2950231"/>
            <a:ext cx="3237255" cy="236232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838200" y="1945335"/>
            <a:ext cx="10515600" cy="115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/>
          <p:nvPr/>
        </p:nvSpPr>
        <p:spPr>
          <a:xfrm>
            <a:off x="0" y="0"/>
            <a:ext cx="12192000" cy="1022985"/>
          </a:xfrm>
          <a:custGeom>
            <a:avLst/>
            <a:gdLst/>
            <a:ahLst/>
            <a:cxnLst/>
            <a:rect l="l" t="t" r="r" b="b"/>
            <a:pathLst>
              <a:path w="12192000" h="1022985" extrusionOk="0">
                <a:moveTo>
                  <a:pt x="0" y="1022603"/>
                </a:moveTo>
                <a:lnTo>
                  <a:pt x="12192000" y="1022603"/>
                </a:lnTo>
                <a:lnTo>
                  <a:pt x="12192000" y="0"/>
                </a:lnTo>
                <a:lnTo>
                  <a:pt x="0" y="0"/>
                </a:lnTo>
                <a:lnTo>
                  <a:pt x="0" y="1022603"/>
                </a:lnTo>
                <a:close/>
              </a:path>
            </a:pathLst>
          </a:custGeom>
          <a:solidFill>
            <a:srgbClr val="42546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10090404" y="175260"/>
            <a:ext cx="1804416" cy="633983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960865" y="6445943"/>
            <a:ext cx="10721198" cy="0"/>
          </a:xfrm>
          <a:prstGeom prst="straightConnector1">
            <a:avLst/>
          </a:prstGeom>
          <a:noFill/>
          <a:ln w="12700" cap="flat" cmpd="sng">
            <a:solidFill>
              <a:srgbClr val="42556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" name="Google Shape;32;p11"/>
          <p:cNvSpPr txBox="1"/>
          <p:nvPr/>
        </p:nvSpPr>
        <p:spPr>
          <a:xfrm>
            <a:off x="4311688" y="6488345"/>
            <a:ext cx="74727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u="none">
                <a:solidFill>
                  <a:srgbClr val="425563"/>
                </a:solidFill>
                <a:latin typeface="Arial"/>
                <a:ea typeface="Arial"/>
                <a:cs typeface="Arial"/>
                <a:sym typeface="Arial"/>
              </a:rPr>
              <a:t>Toyota Motor Manufacturing Canada Inc.  </a:t>
            </a:r>
            <a:r>
              <a:rPr lang="en-US" sz="1600" b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lang="en-US" sz="1600" b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u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11" descr="Logo&#10;&#10;Description automatically generated with low confidence"/>
          <p:cNvPicPr preferRelativeResize="0"/>
          <p:nvPr/>
        </p:nvPicPr>
        <p:blipFill rotWithShape="1">
          <a:blip r:embed="rId3">
            <a:alphaModFix amt="10000"/>
          </a:blip>
          <a:srcRect l="-844" t="4115" r="844" b="76242"/>
          <a:stretch/>
        </p:blipFill>
        <p:spPr>
          <a:xfrm>
            <a:off x="2664674" y="-170005"/>
            <a:ext cx="6862653" cy="119299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175260"/>
            <a:ext cx="9026236" cy="63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9"/>
          <p:cNvSpPr txBox="1"/>
          <p:nvPr/>
        </p:nvSpPr>
        <p:spPr>
          <a:xfrm>
            <a:off x="63500" y="63500"/>
            <a:ext cx="1458913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•• PROTECTED 関係者外秘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title"/>
          </p:nvPr>
        </p:nvSpPr>
        <p:spPr>
          <a:xfrm>
            <a:off x="838200" y="1945335"/>
            <a:ext cx="10515600" cy="115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dirty="0"/>
              <a:t>HANA – A Collaborative Robot</a:t>
            </a:r>
            <a:endParaRPr dirty="0"/>
          </a:p>
        </p:txBody>
      </p:sp>
      <p:sp>
        <p:nvSpPr>
          <p:cNvPr id="104" name="TextBox 103"/>
          <p:cNvSpPr txBox="1"/>
          <p:nvPr/>
        </p:nvSpPr>
        <p:spPr>
          <a:xfrm>
            <a:off x="1046731" y="564102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 dirty="0">
                <a:solidFill>
                  <a:srgbClr val="5A6068"/>
                </a:solidFill>
                <a:latin typeface="Arial"/>
              </a:rPr>
              <a:t>It doesn't just avoid people — it understands them, and works alongside them.</a:t>
            </a:r>
          </a:p>
          <a:p>
            <a:r>
              <a:rPr sz="2000" b="1" dirty="0">
                <a:solidFill>
                  <a:srgbClr val="333B45"/>
                </a:solidFill>
                <a:latin typeface="Arial"/>
              </a:rPr>
              <a:t>David Wang · Justin Fang · Steven Qi · Heidi Wang    |    Electrical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838200" y="175260"/>
            <a:ext cx="9026236" cy="63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BACKGROUND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838200" y="1179294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50" i="1">
                <a:solidFill>
                  <a:srgbClr val="5A6068"/>
                </a:solidFill>
                <a:latin typeface="Arial"/>
              </a:rPr>
              <a:t>Factory robots are fast but blind to people — so they get caged. We set out to build one that safely shares the workspace.</a:t>
            </a:r>
            <a:endParaRPr/>
          </a:p>
        </p:txBody>
      </p:sp>
      <p:cxnSp>
        <p:nvCxnSpPr>
          <p:cNvPr id="109" name="Google Shape;109;p2"/>
          <p:cNvCxnSpPr/>
          <p:nvPr/>
        </p:nvCxnSpPr>
        <p:spPr>
          <a:xfrm>
            <a:off x="903515" y="1931437"/>
            <a:ext cx="3276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0" name="TextBox 109"/>
          <p:cNvSpPr txBox="1"/>
          <p:nvPr/>
        </p:nvSpPr>
        <p:spPr>
          <a:xfrm>
            <a:off x="841248" y="233172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The problem: </a:t>
            </a:r>
            <a:r>
              <a:rPr sz="1550">
                <a:solidFill>
                  <a:srgbClr val="5A6068"/>
                </a:solidFill>
                <a:latin typeface="Arial"/>
              </a:rPr>
              <a:t>traditional arms must be fenced off — no real human–robot teamwork, wasted floor space.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Our focus: </a:t>
            </a:r>
            <a:r>
              <a:rPr sz="1550">
                <a:solidFill>
                  <a:srgbClr val="5A6068"/>
                </a:solidFill>
                <a:latin typeface="Arial"/>
              </a:rPr>
              <a:t>a robot that knows where the worker is, and what they intend.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Built for TMMC: </a:t>
            </a:r>
            <a:r>
              <a:rPr sz="1550">
                <a:solidFill>
                  <a:srgbClr val="5A6068"/>
                </a:solidFill>
                <a:latin typeface="Arial"/>
              </a:rPr>
              <a:t>where 8,500 Team Members assemble the Lexus RX, NX &amp; RAV4 alongside automation every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5aba9bfc6_12_6"/>
          <p:cNvSpPr txBox="1">
            <a:spLocks noGrp="1"/>
          </p:cNvSpPr>
          <p:nvPr>
            <p:ph type="title"/>
          </p:nvPr>
        </p:nvSpPr>
        <p:spPr>
          <a:xfrm>
            <a:off x="838200" y="175260"/>
            <a:ext cx="90261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DESIGN CHOICES</a:t>
            </a:r>
            <a:endParaRPr/>
          </a:p>
        </p:txBody>
      </p:sp>
      <p:cxnSp>
        <p:nvCxnSpPr>
          <p:cNvPr id="115" name="Google Shape;115;g335aba9bfc6_12_6"/>
          <p:cNvCxnSpPr/>
          <p:nvPr/>
        </p:nvCxnSpPr>
        <p:spPr>
          <a:xfrm>
            <a:off x="903515" y="1931437"/>
            <a:ext cx="3276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6" name="Google Shape;116;g335aba9bfc6_12_6"/>
          <p:cNvSpPr txBox="1"/>
          <p:nvPr/>
        </p:nvSpPr>
        <p:spPr>
          <a:xfrm>
            <a:off x="838200" y="1179294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50" i="1">
                <a:solidFill>
                  <a:srgbClr val="5A6068"/>
                </a:solidFill>
                <a:latin typeface="Arial"/>
              </a:rPr>
              <a:t>One robot, five integrated modules, designed in three layers around the human.</a:t>
            </a:r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41248" y="233172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Layer 1 — Foundation: </a:t>
            </a:r>
            <a:r>
              <a:rPr sz="1550">
                <a:solidFill>
                  <a:srgbClr val="5A6068"/>
                </a:solidFill>
                <a:latin typeface="Arial"/>
              </a:rPr>
              <a:t>vision-guided pick &amp; place into a container.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Layer 2 — Tiered safety: </a:t>
            </a:r>
            <a:r>
              <a:rPr sz="1550">
                <a:solidFill>
                  <a:srgbClr val="5A6068"/>
                </a:solidFill>
                <a:latin typeface="Arial"/>
              </a:rPr>
              <a:t>a caution zone slows the arm, a danger zone stops it.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Layer 3 — Handoff Protocol: </a:t>
            </a:r>
            <a:r>
              <a:rPr sz="1550">
                <a:solidFill>
                  <a:srgbClr val="5A6068"/>
                </a:solidFill>
                <a:latin typeface="Arial"/>
              </a:rPr>
              <a:t>hand present → deliver to the worker; no hand → place in the tray.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Five modules: </a:t>
            </a:r>
            <a:r>
              <a:rPr sz="1550">
                <a:solidFill>
                  <a:srgbClr val="5A6068"/>
                </a:solidFill>
                <a:latin typeface="Arial"/>
              </a:rPr>
              <a:t>pick &amp; place · hand-safety · operator monitor · manual control · web Control Center.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Hand sensing: </a:t>
            </a:r>
            <a:r>
              <a:rPr sz="1550">
                <a:solidFill>
                  <a:srgbClr val="5A6068"/>
                </a:solidFill>
                <a:latin typeface="Arial"/>
              </a:rPr>
              <a:t>chose MediaPipe over color / motion — robust under changing factory light.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5aba9bfc6_12_12"/>
          <p:cNvSpPr txBox="1">
            <a:spLocks noGrp="1"/>
          </p:cNvSpPr>
          <p:nvPr>
            <p:ph type="title"/>
          </p:nvPr>
        </p:nvSpPr>
        <p:spPr>
          <a:xfrm>
            <a:off x="838200" y="175260"/>
            <a:ext cx="90261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TECHNICAL ANALYSIS</a:t>
            </a:r>
            <a:endParaRPr/>
          </a:p>
        </p:txBody>
      </p:sp>
      <p:cxnSp>
        <p:nvCxnSpPr>
          <p:cNvPr id="122" name="Google Shape;122;g335aba9bfc6_12_12"/>
          <p:cNvCxnSpPr/>
          <p:nvPr/>
        </p:nvCxnSpPr>
        <p:spPr>
          <a:xfrm>
            <a:off x="903515" y="1931437"/>
            <a:ext cx="3276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3" name="Google Shape;123;g335aba9bfc6_12_12"/>
          <p:cNvSpPr txBox="1"/>
          <p:nvPr/>
        </p:nvSpPr>
        <p:spPr>
          <a:xfrm>
            <a:off x="838200" y="1179294"/>
            <a:ext cx="1051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50" i="1">
                <a:solidFill>
                  <a:srgbClr val="5A6068"/>
                </a:solidFill>
                <a:latin typeface="Arial"/>
              </a:rPr>
              <a:t>From camera pixels to robot motion — calibrated, fast, and conservative on safety.</a:t>
            </a:r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41248" y="233172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Pipeline: </a:t>
            </a:r>
            <a:r>
              <a:rPr sz="1550">
                <a:solidFill>
                  <a:srgbClr val="5A6068"/>
                </a:solidFill>
                <a:latin typeface="Arial"/>
              </a:rPr>
              <a:t>Orbbec camera → 12-point homography (pixel → robot mm) → MediaPipe + HSV detection → zone / state logic → Dobot arm.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Detection: </a:t>
            </a:r>
            <a:r>
              <a:rPr sz="1550">
                <a:solidFill>
                  <a:srgbClr val="5A6068"/>
                </a:solidFill>
                <a:latin typeface="Arial"/>
              </a:rPr>
              <a:t>red object finding tuned for distance; a circular metal tray is auto-located as the drop zone.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Safety logic (Jidoka): </a:t>
            </a:r>
            <a:r>
              <a:rPr sz="1550">
                <a:solidFill>
                  <a:srgbClr val="5A6068"/>
                </a:solidFill>
                <a:latin typeface="Arial"/>
              </a:rPr>
              <a:t>every fingertip on up to two hands is checked each frame — the most dangerous zone wins.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Performance: </a:t>
            </a:r>
            <a:r>
              <a:rPr sz="1550">
                <a:solidFill>
                  <a:srgbClr val="5A6068"/>
                </a:solidFill>
                <a:latin typeface="Arial"/>
              </a:rPr>
              <a:t>frame downscaling + CLAHE contrast keep detection near real-time for live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9576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i="1">
                <a:solidFill>
                  <a:srgbClr val="5A6068"/>
                </a:solidFill>
                <a:latin typeface="Arial"/>
              </a:rPr>
              <a:t>"Everything starts with safety" — engineered to recognized practice.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1901952"/>
            <a:ext cx="3273552" cy="15240"/>
          </a:xfrm>
          <a:prstGeom prst="rect">
            <a:avLst/>
          </a:prstGeom>
          <a:solidFill>
            <a:srgbClr val="3C4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Three zones: </a:t>
            </a:r>
            <a:r>
              <a:rPr sz="1550">
                <a:solidFill>
                  <a:srgbClr val="5A6068"/>
                </a:solidFill>
                <a:latin typeface="Arial"/>
              </a:rPr>
              <a:t>GREEN clear (full speed) · ORANGE caution (slow to 50%) · RED danger (full stop).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Danger response: </a:t>
            </a:r>
            <a:r>
              <a:rPr sz="1550">
                <a:solidFill>
                  <a:srgbClr val="5A6068"/>
                </a:solidFill>
                <a:latin typeface="Arial"/>
              </a:rPr>
              <a:t>the robot halts immediately and auto-resumes 3 s after the hand clears.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Standards: </a:t>
            </a:r>
            <a:r>
              <a:rPr sz="1550">
                <a:solidFill>
                  <a:srgbClr val="5A6068"/>
                </a:solidFill>
                <a:latin typeface="Arial"/>
              </a:rPr>
              <a:t>aligned to ISO/TS 15066 (speed &amp; separation monitoring) and CSA Z434 (Canadian industrial robot safety).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Fail-safe by default: </a:t>
            </a:r>
            <a:r>
              <a:rPr sz="1550">
                <a:solidFill>
                  <a:srgbClr val="5A6068"/>
                </a:solidFill>
                <a:latin typeface="Arial"/>
              </a:rPr>
              <a:t>any uncertainty → stop. The machine protects the human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CENTRICITY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9576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i="1">
                <a:solidFill>
                  <a:srgbClr val="5A6068"/>
                </a:solidFill>
                <a:latin typeface="Arial"/>
              </a:rPr>
              <a:t>Hana is designed as the 8,501st team member — to assist, never to replace.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1901952"/>
            <a:ext cx="3273552" cy="15240"/>
          </a:xfrm>
          <a:prstGeom prst="rect">
            <a:avLst/>
          </a:prstGeom>
          <a:solidFill>
            <a:srgbClr val="3C4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Handoff Protocol: </a:t>
            </a:r>
            <a:r>
              <a:rPr sz="1550">
                <a:solidFill>
                  <a:srgbClr val="5A6068"/>
                </a:solidFill>
                <a:latin typeface="Arial"/>
              </a:rPr>
              <a:t>parts arrive in the worker's hand the moment they reach — Just-In-Time, at human scale.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Operator monitor: </a:t>
            </a:r>
            <a:r>
              <a:rPr sz="1550">
                <a:solidFill>
                  <a:srgbClr val="5A6068"/>
                </a:solidFill>
                <a:latin typeface="Arial"/>
              </a:rPr>
              <a:t>a second camera recognizes the operator and flags drowsiness, micro-sleeps and yawns.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Gesture aware: </a:t>
            </a:r>
            <a:r>
              <a:rPr sz="1550">
                <a:solidFill>
                  <a:srgbClr val="5A6068"/>
                </a:solidFill>
                <a:latin typeface="Arial"/>
              </a:rPr>
              <a:t>a peace sign pauses the robot and it waves back — natural, hands-free, worker-controlled.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In control: </a:t>
            </a:r>
            <a:r>
              <a:rPr sz="1550">
                <a:solidFill>
                  <a:srgbClr val="5A6068"/>
                </a:solidFill>
                <a:latin typeface="Arial"/>
              </a:rPr>
              <a:t>the human keeps judgment; the robot takes the repetitive reach.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5aba9bfc6_12_18"/>
          <p:cNvSpPr txBox="1">
            <a:spLocks noGrp="1"/>
          </p:cNvSpPr>
          <p:nvPr>
            <p:ph type="title"/>
          </p:nvPr>
        </p:nvSpPr>
        <p:spPr>
          <a:xfrm>
            <a:off x="838200" y="175260"/>
            <a:ext cx="90261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PROOF OF CONCEPT</a:t>
            </a:r>
            <a:endParaRPr/>
          </a:p>
        </p:txBody>
      </p:sp>
      <p:cxnSp>
        <p:nvCxnSpPr>
          <p:cNvPr id="129" name="Google Shape;129;g335aba9bfc6_12_18"/>
          <p:cNvCxnSpPr/>
          <p:nvPr/>
        </p:nvCxnSpPr>
        <p:spPr>
          <a:xfrm>
            <a:off x="903515" y="1931437"/>
            <a:ext cx="3276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0" name="Google Shape;130;g335aba9bfc6_12_18"/>
          <p:cNvSpPr txBox="1"/>
          <p:nvPr/>
        </p:nvSpPr>
        <p:spPr>
          <a:xfrm>
            <a:off x="838200" y="1179294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50" i="1">
                <a:solidFill>
                  <a:srgbClr val="5A6068"/>
                </a:solidFill>
                <a:latin typeface="Arial"/>
              </a:rPr>
              <a:t>A working prototype — and one Control Center that runs all of it.</a:t>
            </a:r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41248" y="233172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>
                <a:solidFill>
                  <a:srgbClr val="333B45"/>
                </a:solidFill>
                <a:latin typeface="Arial"/>
              </a:rPr>
              <a:t>•  Vision-guided detection + automatic tray finding</a:t>
            </a:r>
          </a:p>
          <a:p>
            <a:pPr>
              <a:spcAft>
                <a:spcPts val="700"/>
              </a:spcAft>
            </a:pPr>
            <a:r>
              <a:rPr sz="1450">
                <a:solidFill>
                  <a:srgbClr val="333B45"/>
                </a:solidFill>
                <a:latin typeface="Arial"/>
              </a:rPr>
              <a:t>•  Picks every detected object, one after another</a:t>
            </a:r>
          </a:p>
          <a:p>
            <a:pPr>
              <a:spcAft>
                <a:spcPts val="700"/>
              </a:spcAft>
            </a:pPr>
            <a:r>
              <a:rPr sz="1450">
                <a:solidFill>
                  <a:srgbClr val="333B45"/>
                </a:solidFill>
                <a:latin typeface="Arial"/>
              </a:rPr>
              <a:t>•  Tiered safety zones + handoff to hand or tray</a:t>
            </a:r>
          </a:p>
          <a:p>
            <a:pPr>
              <a:spcAft>
                <a:spcPts val="700"/>
              </a:spcAft>
            </a:pPr>
            <a:r>
              <a:rPr sz="1450">
                <a:solidFill>
                  <a:srgbClr val="333B45"/>
                </a:solidFill>
                <a:latin typeface="Arial"/>
              </a:rPr>
              <a:t>•  Peace-sign gesture → pause &amp; wave</a:t>
            </a:r>
          </a:p>
          <a:p>
            <a:pPr>
              <a:spcAft>
                <a:spcPts val="700"/>
              </a:spcAft>
            </a:pPr>
            <a:r>
              <a:rPr sz="1450">
                <a:solidFill>
                  <a:srgbClr val="333B45"/>
                </a:solidFill>
                <a:latin typeface="Arial"/>
              </a:rPr>
              <a:t>•  Operator ID + fatigue monitoring</a:t>
            </a:r>
          </a:p>
          <a:p>
            <a:pPr>
              <a:spcAft>
                <a:spcPts val="700"/>
              </a:spcAft>
            </a:pPr>
            <a:r>
              <a:rPr sz="1450">
                <a:solidFill>
                  <a:srgbClr val="333B45"/>
                </a:solidFill>
                <a:latin typeface="Arial"/>
              </a:rPr>
              <a:t>•  Web Control Center: one-click launch, no terminal</a:t>
            </a:r>
          </a:p>
        </p:txBody>
      </p:sp>
      <p:pic>
        <p:nvPicPr>
          <p:cNvPr id="132" name="Picture 131" descr="control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68880"/>
            <a:ext cx="5120640" cy="2346282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6400800" y="486088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068"/>
                </a:solidFill>
                <a:latin typeface="Arial"/>
              </a:rPr>
              <a:t>The web Control Center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5aba9bfc6_12_30"/>
          <p:cNvSpPr txBox="1">
            <a:spLocks noGrp="1"/>
          </p:cNvSpPr>
          <p:nvPr>
            <p:ph type="title"/>
          </p:nvPr>
        </p:nvSpPr>
        <p:spPr>
          <a:xfrm>
            <a:off x="838200" y="175260"/>
            <a:ext cx="90261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COST ANALYSIS</a:t>
            </a:r>
            <a:endParaRPr/>
          </a:p>
        </p:txBody>
      </p:sp>
      <p:cxnSp>
        <p:nvCxnSpPr>
          <p:cNvPr id="136" name="Google Shape;136;g335aba9bfc6_12_30"/>
          <p:cNvCxnSpPr/>
          <p:nvPr/>
        </p:nvCxnSpPr>
        <p:spPr>
          <a:xfrm>
            <a:off x="903515" y="1931437"/>
            <a:ext cx="3276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g335aba9bfc6_12_30"/>
          <p:cNvSpPr txBox="1"/>
          <p:nvPr/>
        </p:nvSpPr>
        <p:spPr>
          <a:xfrm>
            <a:off x="838200" y="1179294"/>
            <a:ext cx="1051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50" i="1">
                <a:solidFill>
                  <a:srgbClr val="5A6068"/>
                </a:solidFill>
                <a:latin typeface="Arial"/>
              </a:rPr>
              <a:t>Most of the cost is hardware we were given; the software is free.</a:t>
            </a:r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41248" y="233172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Largest costs: </a:t>
            </a:r>
            <a:r>
              <a:rPr sz="1550">
                <a:solidFill>
                  <a:srgbClr val="5A6068"/>
                </a:solidFill>
                <a:latin typeface="Arial"/>
              </a:rPr>
              <a:t>the Dobot Magician arm and the Orbbec depth camera (both provided).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Software: </a:t>
            </a:r>
            <a:r>
              <a:rPr sz="1550">
                <a:solidFill>
                  <a:srgbClr val="5A6068"/>
                </a:solidFill>
                <a:latin typeface="Arial"/>
              </a:rPr>
              <a:t>100% open-source — Python, OpenCV, MediaPipe — $0 licensing.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No custom fabrication: </a:t>
            </a:r>
            <a:r>
              <a:rPr sz="1550">
                <a:solidFill>
                  <a:srgbClr val="5A6068"/>
                </a:solidFill>
                <a:latin typeface="Arial"/>
              </a:rPr>
              <a:t>reused the starter hardware as-is.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Scales for free: </a:t>
            </a:r>
            <a:r>
              <a:rPr sz="1550">
                <a:solidFill>
                  <a:srgbClr val="5A6068"/>
                </a:solidFill>
                <a:latin typeface="Arial"/>
              </a:rPr>
              <a:t>the same code runs on a larger industrial arm with no rewrite.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5aba9bfc6_12_36"/>
          <p:cNvSpPr txBox="1">
            <a:spLocks noGrp="1"/>
          </p:cNvSpPr>
          <p:nvPr>
            <p:ph type="title"/>
          </p:nvPr>
        </p:nvSpPr>
        <p:spPr>
          <a:xfrm>
            <a:off x="838200" y="175260"/>
            <a:ext cx="90261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NEXT STEPS</a:t>
            </a:r>
            <a:endParaRPr/>
          </a:p>
        </p:txBody>
      </p:sp>
      <p:cxnSp>
        <p:nvCxnSpPr>
          <p:cNvPr id="143" name="Google Shape;143;g335aba9bfc6_12_36"/>
          <p:cNvCxnSpPr/>
          <p:nvPr/>
        </p:nvCxnSpPr>
        <p:spPr>
          <a:xfrm>
            <a:off x="903515" y="1931437"/>
            <a:ext cx="3276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g335aba9bfc6_12_36"/>
          <p:cNvSpPr txBox="1"/>
          <p:nvPr/>
        </p:nvSpPr>
        <p:spPr>
          <a:xfrm>
            <a:off x="838200" y="1179294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50" i="1">
                <a:solidFill>
                  <a:srgbClr val="5A6068"/>
                </a:solidFill>
                <a:latin typeface="Arial"/>
              </a:rPr>
              <a:t>From a 48-hour prototype toward a plant-floor system.</a:t>
            </a:r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841248" y="233172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Orientation-aware grip: </a:t>
            </a:r>
            <a:r>
              <a:rPr sz="1550">
                <a:solidFill>
                  <a:srgbClr val="5A6068"/>
                </a:solidFill>
                <a:latin typeface="Arial"/>
              </a:rPr>
              <a:t>rotate the gripper to match a part's angle and grab irregular shapes.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Depth-based 3D zones: </a:t>
            </a:r>
            <a:r>
              <a:rPr sz="1550">
                <a:solidFill>
                  <a:srgbClr val="5A6068"/>
                </a:solidFill>
                <a:latin typeface="Arial"/>
              </a:rPr>
              <a:t>replace 2D image regions with true 3D safety volumes.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Mid-run manual takeover: </a:t>
            </a:r>
            <a:r>
              <a:rPr sz="1550">
                <a:solidFill>
                  <a:srgbClr val="5A6068"/>
                </a:solidFill>
                <a:latin typeface="Arial"/>
              </a:rPr>
              <a:t>let an operator seize control during automation at any moment.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333B45"/>
                </a:solidFill>
                <a:latin typeface="Arial"/>
              </a:rPr>
              <a:t>•  For industry: </a:t>
            </a:r>
            <a:r>
              <a:rPr sz="1550">
                <a:solidFill>
                  <a:srgbClr val="5A6068"/>
                </a:solidFill>
                <a:latin typeface="Arial"/>
              </a:rPr>
              <a:t>multi-camera coverage, consistent lighting, and ISO/TS 15066 certification.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8102E"/>
      </a:accent1>
      <a:accent2>
        <a:srgbClr val="425563"/>
      </a:accent2>
      <a:accent3>
        <a:srgbClr val="53565A"/>
      </a:accent3>
      <a:accent4>
        <a:srgbClr val="00AF66"/>
      </a:accent4>
      <a:accent5>
        <a:srgbClr val="772583"/>
      </a:accent5>
      <a:accent6>
        <a:srgbClr val="0092B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757</Words>
  <Application>Microsoft Office PowerPoint</Application>
  <PresentationFormat>宽屏</PresentationFormat>
  <Paragraphs>54</Paragraphs>
  <Slides>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HANA – A Collaborative Robot</vt:lpstr>
      <vt:lpstr>BACKGROUND</vt:lpstr>
      <vt:lpstr>DESIGN CHOICES</vt:lpstr>
      <vt:lpstr>TECHNICAL ANALYSIS</vt:lpstr>
      <vt:lpstr>SAFETY</vt:lpstr>
      <vt:lpstr>HUMAN CENTRICITY</vt:lpstr>
      <vt:lpstr>PROOF OF CONCEPT</vt:lpstr>
      <vt:lpstr>COST ANALYSIS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Derek Huynh (TMMC)</dc:creator>
  <cp:lastModifiedBy>wangjiacheng1231@126.com</cp:lastModifiedBy>
  <cp:revision>1</cp:revision>
  <dcterms:created xsi:type="dcterms:W3CDTF">2023-08-01T12:18:12Z</dcterms:created>
  <dcterms:modified xsi:type="dcterms:W3CDTF">2026-05-31T09:08:06Z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•• PROTECTED 関係者外秘</vt:lpwstr>
  </property>
  <property fmtid="{D5CDD505-2E9C-101B-9397-08002B2CF9AE}" pid="4" name="ContentTypeId">
    <vt:lpwstr>0x01010004B87D8ED0D12C4BB412CCADF24856D9</vt:lpwstr>
  </property>
  <property fmtid="{D5CDD505-2E9C-101B-9397-08002B2CF9AE}" pid="5" name="MediaServiceImageTags">
    <vt:lpwstr/>
  </property>
</Properties>
</file>